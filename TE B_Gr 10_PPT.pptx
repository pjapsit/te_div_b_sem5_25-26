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  <p:sldMasterId id="2147483666" r:id="rId2"/>
  </p:sldMasterIdLst>
  <p:notesMasterIdLst>
    <p:notesMasterId r:id="rId21"/>
  </p:notesMasterIdLst>
  <p:sldIdLst>
    <p:sldId id="256" r:id="rId3"/>
    <p:sldId id="263" r:id="rId4"/>
    <p:sldId id="269" r:id="rId5"/>
    <p:sldId id="296" r:id="rId6"/>
    <p:sldId id="288" r:id="rId7"/>
    <p:sldId id="265" r:id="rId8"/>
    <p:sldId id="270" r:id="rId9"/>
    <p:sldId id="259" r:id="rId10"/>
    <p:sldId id="262" r:id="rId11"/>
    <p:sldId id="292" r:id="rId12"/>
    <p:sldId id="293" r:id="rId13"/>
    <p:sldId id="294" r:id="rId14"/>
    <p:sldId id="295" r:id="rId15"/>
    <p:sldId id="297" r:id="rId16"/>
    <p:sldId id="267" r:id="rId17"/>
    <p:sldId id="290" r:id="rId18"/>
    <p:sldId id="268" r:id="rId19"/>
    <p:sldId id="261" r:id="rId20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03AE563F-DC5E-4D0F-A173-FB1C597B164B}">
          <p14:sldIdLst>
            <p14:sldId id="256"/>
            <p14:sldId id="263"/>
            <p14:sldId id="269"/>
            <p14:sldId id="296"/>
            <p14:sldId id="288"/>
            <p14:sldId id="265"/>
            <p14:sldId id="270"/>
            <p14:sldId id="259"/>
            <p14:sldId id="262"/>
            <p14:sldId id="292"/>
            <p14:sldId id="293"/>
            <p14:sldId id="294"/>
            <p14:sldId id="295"/>
            <p14:sldId id="297"/>
            <p14:sldId id="267"/>
            <p14:sldId id="290"/>
            <p14:sldId id="268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5033" autoAdjust="0"/>
  </p:normalViewPr>
  <p:slideViewPr>
    <p:cSldViewPr snapToGrid="0">
      <p:cViewPr varScale="1">
        <p:scale>
          <a:sx n="68" d="100"/>
          <a:sy n="68" d="100"/>
        </p:scale>
        <p:origin x="124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12800"/>
            <a:ext cx="7126200" cy="400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36987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fld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16" name="Google Shape;216;p2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2525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fld>
            <a:endParaRPr/>
          </a:p>
        </p:txBody>
      </p:sp>
      <p:sp>
        <p:nvSpPr>
          <p:cNvPr id="223" name="Google Shape;2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4867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D7D0DDFC-0B13-0813-1289-815A8E79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>
            <a:extLst>
              <a:ext uri="{FF2B5EF4-FFF2-40B4-BE49-F238E27FC236}">
                <a16:creationId xmlns:a16="http://schemas.microsoft.com/office/drawing/2014/main" id="{A6ACF1A5-2EE5-3922-15B3-B004D57D1E02}"/>
              </a:ext>
            </a:extLst>
          </p:cNvPr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fld>
            <a:endParaRPr/>
          </a:p>
        </p:txBody>
      </p:sp>
      <p:sp>
        <p:nvSpPr>
          <p:cNvPr id="230" name="Google Shape;230;p4:notes">
            <a:extLst>
              <a:ext uri="{FF2B5EF4-FFF2-40B4-BE49-F238E27FC236}">
                <a16:creationId xmlns:a16="http://schemas.microsoft.com/office/drawing/2014/main" id="{195644B5-F992-959F-4307-588795D71D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>
            <a:extLst>
              <a:ext uri="{FF2B5EF4-FFF2-40B4-BE49-F238E27FC236}">
                <a16:creationId xmlns:a16="http://schemas.microsoft.com/office/drawing/2014/main" id="{1F278FFC-2591-88F5-1319-E39B23500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8543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1D064848-5C35-4C4C-CF8F-F92F78002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>
            <a:extLst>
              <a:ext uri="{FF2B5EF4-FFF2-40B4-BE49-F238E27FC236}">
                <a16:creationId xmlns:a16="http://schemas.microsoft.com/office/drawing/2014/main" id="{C95FDD5D-6483-C2BE-254E-2677370EBE4D}"/>
              </a:ext>
            </a:extLst>
          </p:cNvPr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fld>
            <a:endParaRPr/>
          </a:p>
        </p:txBody>
      </p:sp>
      <p:sp>
        <p:nvSpPr>
          <p:cNvPr id="230" name="Google Shape;230;p4:notes">
            <a:extLst>
              <a:ext uri="{FF2B5EF4-FFF2-40B4-BE49-F238E27FC236}">
                <a16:creationId xmlns:a16="http://schemas.microsoft.com/office/drawing/2014/main" id="{B011200C-5B9F-1633-B5BA-5FAFBEDC3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>
            <a:extLst>
              <a:ext uri="{FF2B5EF4-FFF2-40B4-BE49-F238E27FC236}">
                <a16:creationId xmlns:a16="http://schemas.microsoft.com/office/drawing/2014/main" id="{2BE87D0A-E3BB-9992-0DDD-36FB8B0899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6046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A01E084E-21B2-83E5-F559-16A4F4C3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>
            <a:extLst>
              <a:ext uri="{FF2B5EF4-FFF2-40B4-BE49-F238E27FC236}">
                <a16:creationId xmlns:a16="http://schemas.microsoft.com/office/drawing/2014/main" id="{3ACAB5BF-9089-55D8-B387-62539E3AAE4B}"/>
              </a:ext>
            </a:extLst>
          </p:cNvPr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fld>
            <a:endParaRPr/>
          </a:p>
        </p:txBody>
      </p:sp>
      <p:sp>
        <p:nvSpPr>
          <p:cNvPr id="230" name="Google Shape;230;p4:notes">
            <a:extLst>
              <a:ext uri="{FF2B5EF4-FFF2-40B4-BE49-F238E27FC236}">
                <a16:creationId xmlns:a16="http://schemas.microsoft.com/office/drawing/2014/main" id="{0054D4E2-FF4C-FCE9-EBF6-F0B48FF97A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>
            <a:extLst>
              <a:ext uri="{FF2B5EF4-FFF2-40B4-BE49-F238E27FC236}">
                <a16:creationId xmlns:a16="http://schemas.microsoft.com/office/drawing/2014/main" id="{8D918A93-CA62-2301-1977-3129927EF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7856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EB1C16A9-F57B-95C8-F4CD-4BCEC9A29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>
            <a:extLst>
              <a:ext uri="{FF2B5EF4-FFF2-40B4-BE49-F238E27FC236}">
                <a16:creationId xmlns:a16="http://schemas.microsoft.com/office/drawing/2014/main" id="{41F272AC-C483-6B47-16FA-99574EE78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>
            <a:extLst>
              <a:ext uri="{FF2B5EF4-FFF2-40B4-BE49-F238E27FC236}">
                <a16:creationId xmlns:a16="http://schemas.microsoft.com/office/drawing/2014/main" id="{3D000E2E-5FC8-DF41-A273-224133679F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1938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2417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09" name="Google Shape;309;p8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5186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173F54C6-F15F-0927-D91D-6AD2FF7DA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>
            <a:extLst>
              <a:ext uri="{FF2B5EF4-FFF2-40B4-BE49-F238E27FC236}">
                <a16:creationId xmlns:a16="http://schemas.microsoft.com/office/drawing/2014/main" id="{990DCECF-0677-16A5-1A63-7F6FE60BB55D}"/>
              </a:ext>
            </a:extLst>
          </p:cNvPr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:notes">
            <a:extLst>
              <a:ext uri="{FF2B5EF4-FFF2-40B4-BE49-F238E27FC236}">
                <a16:creationId xmlns:a16="http://schemas.microsoft.com/office/drawing/2014/main" id="{FD93456D-9333-85F3-2CF7-CAEEDCE117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17" name="Google Shape;317;p10:notes">
            <a:extLst>
              <a:ext uri="{FF2B5EF4-FFF2-40B4-BE49-F238E27FC236}">
                <a16:creationId xmlns:a16="http://schemas.microsoft.com/office/drawing/2014/main" id="{4ADF2A25-6C7F-B51B-A499-314D136867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3233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7FD53D2B-BBAB-B642-C6F2-5A1483D8F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>
            <a:extLst>
              <a:ext uri="{FF2B5EF4-FFF2-40B4-BE49-F238E27FC236}">
                <a16:creationId xmlns:a16="http://schemas.microsoft.com/office/drawing/2014/main" id="{1F1FB242-5846-8F1B-04B8-8898C71423A7}"/>
              </a:ext>
            </a:extLst>
          </p:cNvPr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15</a:t>
            </a:fld>
            <a:endParaRPr/>
          </a:p>
        </p:txBody>
      </p:sp>
      <p:sp>
        <p:nvSpPr>
          <p:cNvPr id="230" name="Google Shape;230;p4:notes">
            <a:extLst>
              <a:ext uri="{FF2B5EF4-FFF2-40B4-BE49-F238E27FC236}">
                <a16:creationId xmlns:a16="http://schemas.microsoft.com/office/drawing/2014/main" id="{D10FDF57-1BBC-A055-8B99-0757234103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>
            <a:extLst>
              <a:ext uri="{FF2B5EF4-FFF2-40B4-BE49-F238E27FC236}">
                <a16:creationId xmlns:a16="http://schemas.microsoft.com/office/drawing/2014/main" id="{F22776F3-4CCF-ED2E-C5FC-20EF190B8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4052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A35FC4F9-DB08-F7F4-BE60-C0729DD1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>
            <a:extLst>
              <a:ext uri="{FF2B5EF4-FFF2-40B4-BE49-F238E27FC236}">
                <a16:creationId xmlns:a16="http://schemas.microsoft.com/office/drawing/2014/main" id="{05EC3EB2-0628-9269-99A1-D8E0DFDC6386}"/>
              </a:ext>
            </a:extLst>
          </p:cNvPr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16</a:t>
            </a:fld>
            <a:endParaRPr/>
          </a:p>
        </p:txBody>
      </p:sp>
      <p:sp>
        <p:nvSpPr>
          <p:cNvPr id="230" name="Google Shape;230;p4:notes">
            <a:extLst>
              <a:ext uri="{FF2B5EF4-FFF2-40B4-BE49-F238E27FC236}">
                <a16:creationId xmlns:a16="http://schemas.microsoft.com/office/drawing/2014/main" id="{EC1DB23C-CE63-B733-C115-62CFA933F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>
            <a:extLst>
              <a:ext uri="{FF2B5EF4-FFF2-40B4-BE49-F238E27FC236}">
                <a16:creationId xmlns:a16="http://schemas.microsoft.com/office/drawing/2014/main" id="{ACDBF6D0-98DA-6F6A-5CAB-FA6EEF92F9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3140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BCF0B156-D317-5CC7-0460-10A43954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>
            <a:extLst>
              <a:ext uri="{FF2B5EF4-FFF2-40B4-BE49-F238E27FC236}">
                <a16:creationId xmlns:a16="http://schemas.microsoft.com/office/drawing/2014/main" id="{B0C56B43-44F7-8DC5-BA21-66A405BF6977}"/>
              </a:ext>
            </a:extLst>
          </p:cNvPr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17</a:t>
            </a:fld>
            <a:endParaRPr/>
          </a:p>
        </p:txBody>
      </p:sp>
      <p:sp>
        <p:nvSpPr>
          <p:cNvPr id="230" name="Google Shape;230;p4:notes">
            <a:extLst>
              <a:ext uri="{FF2B5EF4-FFF2-40B4-BE49-F238E27FC236}">
                <a16:creationId xmlns:a16="http://schemas.microsoft.com/office/drawing/2014/main" id="{C1CD453F-45AD-4E11-8D11-063D6D33E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>
            <a:extLst>
              <a:ext uri="{FF2B5EF4-FFF2-40B4-BE49-F238E27FC236}">
                <a16:creationId xmlns:a16="http://schemas.microsoft.com/office/drawing/2014/main" id="{40915A8A-CF71-873B-3A12-4D6FF836A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2319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18</a:t>
            </a:fld>
            <a:endParaRPr/>
          </a:p>
        </p:txBody>
      </p:sp>
      <p:sp>
        <p:nvSpPr>
          <p:cNvPr id="295" name="Google Shape;2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96" name="Google Shape;296;p13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671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8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8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title"/>
          </p:nvPr>
        </p:nvSpPr>
        <p:spPr>
          <a:xfrm rot="5400000">
            <a:off x="4234694" y="3026822"/>
            <a:ext cx="57888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1"/>
          </p:nvPr>
        </p:nvSpPr>
        <p:spPr>
          <a:xfrm rot="5400000">
            <a:off x="641146" y="702722"/>
            <a:ext cx="5788800" cy="5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body" idx="1"/>
          </p:nvPr>
        </p:nvSpPr>
        <p:spPr>
          <a:xfrm rot="5400000">
            <a:off x="2031162" y="1021500"/>
            <a:ext cx="4278300" cy="6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678930" y="671971"/>
            <a:ext cx="6990900" cy="3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672038" y="4423810"/>
            <a:ext cx="6997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2117"/>
              <a:buFont typeface="Trebuchet MS"/>
              <a:buNone/>
              <a:defRPr sz="2646">
                <a:solidFill>
                  <a:schemeClr val="accent1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672040" y="4990673"/>
            <a:ext cx="6997800" cy="16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7F7F7F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>
            <a:spLocks noGrp="1"/>
          </p:cNvSpPr>
          <p:nvPr>
            <p:ph type="title"/>
          </p:nvPr>
        </p:nvSpPr>
        <p:spPr>
          <a:xfrm>
            <a:off x="672040" y="2129659"/>
            <a:ext cx="6997800" cy="28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body" idx="1"/>
          </p:nvPr>
        </p:nvSpPr>
        <p:spPr>
          <a:xfrm>
            <a:off x="672040" y="4990673"/>
            <a:ext cx="6997800" cy="16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672042" y="671971"/>
            <a:ext cx="6997800" cy="3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672042" y="4927788"/>
            <a:ext cx="6997800" cy="1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>
            <a:spLocks noGrp="1"/>
          </p:cNvSpPr>
          <p:nvPr>
            <p:ph type="title"/>
          </p:nvPr>
        </p:nvSpPr>
        <p:spPr>
          <a:xfrm>
            <a:off x="672041" y="5291772"/>
            <a:ext cx="69978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46" b="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"/>
          <p:cNvSpPr>
            <a:spLocks noGrp="1"/>
          </p:cNvSpPr>
          <p:nvPr>
            <p:ph type="pic" idx="2"/>
          </p:nvPr>
        </p:nvSpPr>
        <p:spPr>
          <a:xfrm>
            <a:off x="672041" y="671971"/>
            <a:ext cx="6997800" cy="42393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>
            <a:spLocks noGrp="1"/>
          </p:cNvSpPr>
          <p:nvPr>
            <p:ph type="body" idx="1"/>
          </p:nvPr>
        </p:nvSpPr>
        <p:spPr>
          <a:xfrm>
            <a:off x="672041" y="5916496"/>
            <a:ext cx="69978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882"/>
              <a:buNone/>
              <a:defRPr sz="1102"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>
            <a:spLocks noGrp="1"/>
          </p:cNvSpPr>
          <p:nvPr>
            <p:ph type="title"/>
          </p:nvPr>
        </p:nvSpPr>
        <p:spPr>
          <a:xfrm>
            <a:off x="672041" y="1651933"/>
            <a:ext cx="3075900" cy="14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5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1"/>
          </p:nvPr>
        </p:nvSpPr>
        <p:spPr>
          <a:xfrm>
            <a:off x="3937083" y="567610"/>
            <a:ext cx="3732900" cy="60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2"/>
          </p:nvPr>
        </p:nvSpPr>
        <p:spPr>
          <a:xfrm>
            <a:off x="672041" y="3061205"/>
            <a:ext cx="3075900" cy="28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/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926"/>
              <a:buNone/>
              <a:defRPr sz="1157"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672041" y="671971"/>
            <a:ext cx="6997800" cy="14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title"/>
          </p:nvPr>
        </p:nvSpPr>
        <p:spPr>
          <a:xfrm>
            <a:off x="672041" y="671971"/>
            <a:ext cx="6997800" cy="14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body" idx="1"/>
          </p:nvPr>
        </p:nvSpPr>
        <p:spPr>
          <a:xfrm>
            <a:off x="672041" y="2382084"/>
            <a:ext cx="34074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2117"/>
              <a:buNone/>
              <a:defRPr sz="2646" b="0"/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764"/>
              <a:buNone/>
              <a:defRPr sz="2205" b="1"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 b="1"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body" idx="2"/>
          </p:nvPr>
        </p:nvSpPr>
        <p:spPr>
          <a:xfrm>
            <a:off x="672041" y="3017307"/>
            <a:ext cx="3407400" cy="3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body" idx="3"/>
          </p:nvPr>
        </p:nvSpPr>
        <p:spPr>
          <a:xfrm>
            <a:off x="4262702" y="2382084"/>
            <a:ext cx="34074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2117"/>
              <a:buNone/>
              <a:defRPr sz="2646" b="0"/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764"/>
              <a:buNone/>
              <a:defRPr sz="2205" b="1"/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 b="1"/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body" idx="4"/>
          </p:nvPr>
        </p:nvSpPr>
        <p:spPr>
          <a:xfrm>
            <a:off x="4262702" y="3017307"/>
            <a:ext cx="3407400" cy="3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 rtl="0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 rtl="0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672042" y="671971"/>
            <a:ext cx="6997800" cy="14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body" idx="1"/>
          </p:nvPr>
        </p:nvSpPr>
        <p:spPr>
          <a:xfrm>
            <a:off x="672042" y="2381649"/>
            <a:ext cx="3404400" cy="42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9387" algn="l" rtl="0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marL="914400" lvl="1" indent="-318211" algn="l" rtl="0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marL="1371600" lvl="2" indent="-306984" algn="l" rtl="0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marL="1828800" lvl="3" indent="-295808" algn="l" rtl="0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marL="2286000" lvl="4" indent="-295808" algn="l" rtl="0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marL="2743200" lvl="5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marL="3200400" lvl="6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marL="3657600" lvl="7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marL="4114800" lvl="8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body" idx="2"/>
          </p:nvPr>
        </p:nvSpPr>
        <p:spPr>
          <a:xfrm>
            <a:off x="4265529" y="2381651"/>
            <a:ext cx="3404400" cy="42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9387" algn="l" rtl="0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marL="914400" lvl="1" indent="-318211" algn="l" rtl="0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marL="1371600" lvl="2" indent="-306984" algn="l" rtl="0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marL="1828800" lvl="3" indent="-295808" algn="l" rtl="0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marL="2286000" lvl="4" indent="-295808" algn="l" rtl="0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marL="2743200" lvl="5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marL="3200400" lvl="6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marL="3657600" lvl="7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marL="4114800" lvl="8" indent="-295808" algn="l" rtl="0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672040" y="2977208"/>
            <a:ext cx="6997800" cy="20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9" b="0" cap="none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672040" y="4990673"/>
            <a:ext cx="6997800" cy="9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1100"/>
              </a:spcBef>
              <a:spcAft>
                <a:spcPts val="0"/>
              </a:spcAft>
              <a:buSzPts val="1764"/>
              <a:buNone/>
              <a:defRPr sz="2205">
                <a:solidFill>
                  <a:srgbClr val="7F7F7F"/>
                </a:solidFill>
              </a:defRPr>
            </a:lvl1pPr>
            <a:lvl2pPr marL="914400" lvl="1" indent="-228600" algn="l" rtl="0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9525" y="-9525"/>
            <a:ext cx="10108886" cy="7579449"/>
            <a:chOff x="-8467" y="-8468"/>
            <a:chExt cx="9169889" cy="6875407"/>
          </a:xfrm>
        </p:grpSpPr>
        <p:sp>
          <p:nvSpPr>
            <p:cNvPr id="11" name="Google Shape;11;p1"/>
            <p:cNvSpPr/>
            <p:nvPr/>
          </p:nvSpPr>
          <p:spPr>
            <a:xfrm>
              <a:off x="-8467" y="4013672"/>
              <a:ext cx="458343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" name="Google Shape;12;p1"/>
            <p:cNvCxnSpPr/>
            <p:nvPr/>
          </p:nvCxnSpPr>
          <p:spPr>
            <a:xfrm rot="10800000" flipH="1">
              <a:off x="5130869" y="4174927"/>
              <a:ext cx="4021800" cy="2682900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7043180" y="172"/>
              <a:ext cx="1218300" cy="6857700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" name="Google Shape;14;p1"/>
            <p:cNvSpPr/>
            <p:nvPr/>
          </p:nvSpPr>
          <p:spPr>
            <a:xfrm>
              <a:off x="6891980" y="172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9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7204459" y="-8468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1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6638542" y="3920066"/>
              <a:ext cx="2509944" cy="293370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7010060" y="-8468"/>
              <a:ext cx="2139950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8295974" y="-8468"/>
              <a:ext cx="85581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8094375" y="-8468"/>
              <a:ext cx="1067005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8068455" y="4893559"/>
              <a:ext cx="1092200" cy="1960880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" name="Google Shape;21;p1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8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" name="Google Shape;24;p1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" name="Google Shape;25;p1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3"/>
          <p:cNvGrpSpPr/>
          <p:nvPr/>
        </p:nvGrpSpPr>
        <p:grpSpPr>
          <a:xfrm>
            <a:off x="-9525" y="-9525"/>
            <a:ext cx="10108886" cy="7579449"/>
            <a:chOff x="-8467" y="-8468"/>
            <a:chExt cx="9169889" cy="6875407"/>
          </a:xfrm>
        </p:grpSpPr>
        <p:sp>
          <p:nvSpPr>
            <p:cNvPr id="34" name="Google Shape;34;p3"/>
            <p:cNvSpPr/>
            <p:nvPr/>
          </p:nvSpPr>
          <p:spPr>
            <a:xfrm>
              <a:off x="-8467" y="4013672"/>
              <a:ext cx="458343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35" name="Google Shape;35;p3"/>
            <p:cNvCxnSpPr/>
            <p:nvPr/>
          </p:nvCxnSpPr>
          <p:spPr>
            <a:xfrm rot="10800000" flipH="1">
              <a:off x="5130869" y="4174927"/>
              <a:ext cx="4021800" cy="2682900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7043180" y="172"/>
              <a:ext cx="1218300" cy="6857700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7" name="Google Shape;37;p3"/>
            <p:cNvSpPr/>
            <p:nvPr/>
          </p:nvSpPr>
          <p:spPr>
            <a:xfrm>
              <a:off x="6891980" y="172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9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204459" y="-8468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1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638542" y="3920066"/>
              <a:ext cx="2509944" cy="293370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7010060" y="-8468"/>
              <a:ext cx="2139950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8295974" y="-8468"/>
              <a:ext cx="85581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8094375" y="-8468"/>
              <a:ext cx="1067005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8068455" y="4893559"/>
              <a:ext cx="1092200" cy="1960880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800" cy="42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"/>
          <p:cNvSpPr txBox="1"/>
          <p:nvPr/>
        </p:nvSpPr>
        <p:spPr>
          <a:xfrm>
            <a:off x="504750" y="1495952"/>
            <a:ext cx="9071100" cy="5685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 algn="ctr">
              <a:lnSpc>
                <a:spcPct val="93000"/>
              </a:lnSpc>
              <a:buSzPts val="3600"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Disease Prediction Using Retinal Scan </a:t>
            </a:r>
            <a:endParaRPr lang="en-IN" sz="1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lang="en-IN" sz="12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 Mini Project by 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lang="en-US" sz="20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lang="en-US" sz="2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rebuchet MS"/>
              <a:buNone/>
              <a:tabLst/>
              <a:defRPr/>
            </a:pPr>
            <a:r>
              <a:rPr lang="en-IN" sz="17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Under the Guidance of </a:t>
            </a:r>
            <a:r>
              <a:rPr kumimoji="0" lang="en-IN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Prof. Poonam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Tiware</a:t>
            </a:r>
            <a:endParaRPr lang="en-US" sz="24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lang="en-US" sz="24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2025-2026 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302" name="Google Shape;302;p1"/>
          <p:cNvCxnSpPr/>
          <p:nvPr/>
        </p:nvCxnSpPr>
        <p:spPr>
          <a:xfrm>
            <a:off x="0" y="1743075"/>
            <a:ext cx="10080600" cy="0"/>
          </a:xfrm>
          <a:prstGeom prst="straightConnector1">
            <a:avLst/>
          </a:prstGeom>
          <a:noFill/>
          <a:ln w="25400" cap="rnd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5400" dir="5400000">
              <a:srgbClr val="000000">
                <a:alpha val="34510"/>
              </a:srgbClr>
            </a:outerShdw>
          </a:effectLst>
        </p:spPr>
      </p:cxnSp>
      <p:pic>
        <p:nvPicPr>
          <p:cNvPr id="303" name="Google Shape;30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600" y="179387"/>
            <a:ext cx="7705724" cy="1371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E2FF96-B897-4C9A-7384-A90F8A5BE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717273"/>
              </p:ext>
            </p:extLst>
          </p:nvPr>
        </p:nvGraphicFramePr>
        <p:xfrm>
          <a:off x="2318702" y="3180545"/>
          <a:ext cx="4795520" cy="1950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9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5039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2000" b="0" dirty="0" err="1"/>
                        <a:t>Shitanshu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err="1"/>
                        <a:t>Yadav</a:t>
                      </a:r>
                      <a:r>
                        <a:rPr lang="en-US" sz="2000" b="0" dirty="0"/>
                        <a:t> 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8" marR="91418" marT="91431" marB="9143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2000" b="0" dirty="0"/>
                        <a:t>23106081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8" marR="91418" marT="91431" marB="9143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 err="1">
                          <a:solidFill>
                            <a:schemeClr val="tx1"/>
                          </a:solidFill>
                        </a:rPr>
                        <a:t>Aachal</a:t>
                      </a:r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 Pandey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2000" b="0" dirty="0"/>
                        <a:t>23106064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8" marR="91418" marT="91431" marB="9143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Prajwal Dhanawade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IN" sz="2000" b="0" dirty="0"/>
                        <a:t>24206007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8" marR="91418" marT="91431" marB="9143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</a:rPr>
                        <a:t>Gaurav </a:t>
                      </a:r>
                      <a:r>
                        <a:rPr lang="en-IN" sz="2000" b="0" dirty="0" err="1">
                          <a:solidFill>
                            <a:schemeClr val="tx1"/>
                          </a:solidFill>
                        </a:rPr>
                        <a:t>Kshirsagar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8" marR="91418" marT="91431" marB="91431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2000" b="0" dirty="0"/>
                        <a:t>24206009</a:t>
                      </a:r>
                      <a:endParaRPr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8" marR="91418" marT="91431" marB="9143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/>
        </p:nvSpPr>
        <p:spPr>
          <a:xfrm>
            <a:off x="504825" y="144462"/>
            <a:ext cx="9071100" cy="10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Outline</a:t>
            </a:r>
            <a:endParaRPr dirty="0"/>
          </a:p>
        </p:txBody>
      </p:sp>
      <p:sp>
        <p:nvSpPr>
          <p:cNvPr id="227" name="Google Shape;227;p25"/>
          <p:cNvSpPr txBox="1"/>
          <p:nvPr/>
        </p:nvSpPr>
        <p:spPr>
          <a:xfrm>
            <a:off x="504700" y="1338262"/>
            <a:ext cx="9323400" cy="55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of the Existing Systems</a:t>
            </a:r>
            <a:endParaRPr dirty="0"/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of the Existing Systems</a:t>
            </a:r>
            <a:endParaRPr dirty="0"/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dirty="0"/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dirty="0"/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and Methodologies</a:t>
            </a:r>
            <a:endParaRPr dirty="0"/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Screenshots(Partial )</a:t>
            </a:r>
            <a:endParaRPr dirty="0"/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dirty="0"/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4D81F2FA-0062-A129-437C-B7B28C0EA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>
            <a:extLst>
              <a:ext uri="{FF2B5EF4-FFF2-40B4-BE49-F238E27FC236}">
                <a16:creationId xmlns:a16="http://schemas.microsoft.com/office/drawing/2014/main" id="{93D11805-A376-4DC1-0304-18BC89ADABFD}"/>
              </a:ext>
            </a:extLst>
          </p:cNvPr>
          <p:cNvSpPr txBox="1"/>
          <p:nvPr/>
        </p:nvSpPr>
        <p:spPr>
          <a:xfrm>
            <a:off x="793694" y="376929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F150E-D603-35A9-42F4-01429C36FAA5}"/>
              </a:ext>
            </a:extLst>
          </p:cNvPr>
          <p:cNvSpPr txBox="1"/>
          <p:nvPr/>
        </p:nvSpPr>
        <p:spPr>
          <a:xfrm>
            <a:off x="645457" y="1843425"/>
            <a:ext cx="748566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health is crucial for quality of life, and early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diseases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cataract, glaucoma, and diabetic retinopathy can prevent blindness. Traditional diagnosis often requires costly equipment and expert consultation. With advancements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Deep Learning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automated image-based diagnosis has become possible. This project presents a web-based application that analyzes eye images and provides quick, accessible, and affordable diagnosis support.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560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AD99-FAFD-D094-9765-E187E27E1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Goal:</a:t>
            </a:r>
            <a:b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BF11272-3219-175A-7A91-4771FA3AE9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1512" y="1136115"/>
            <a:ext cx="7829915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Health &amp; Well-being: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Promotes health by enabling early, accessible screening to prevent blindness from retinal diseases.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Inequalities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healthcare disparities by bringing expert-level diagnostics to remote and underserved communities.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Industry, Innovation &amp; Infrastructure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Drives medical innovation by integrating advanced AI technology into frontline healthcare systems.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499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E1CEA411-8ADC-7889-882B-4A4E5C49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>
            <a:extLst>
              <a:ext uri="{FF2B5EF4-FFF2-40B4-BE49-F238E27FC236}">
                <a16:creationId xmlns:a16="http://schemas.microsoft.com/office/drawing/2014/main" id="{DDE0DF12-7453-9EFB-590D-DA82929E0B26}"/>
              </a:ext>
            </a:extLst>
          </p:cNvPr>
          <p:cNvSpPr txBox="1"/>
          <p:nvPr/>
        </p:nvSpPr>
        <p:spPr>
          <a:xfrm>
            <a:off x="747394" y="295904"/>
            <a:ext cx="9071100" cy="48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On Existing System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1CF3ED-A5FB-1C0E-B7FF-EF2F5C48F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242324"/>
              </p:ext>
            </p:extLst>
          </p:nvPr>
        </p:nvGraphicFramePr>
        <p:xfrm>
          <a:off x="747394" y="954411"/>
          <a:ext cx="7710806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553">
                  <a:extLst>
                    <a:ext uri="{9D8B030D-6E8A-4147-A177-3AD203B41FA5}">
                      <a16:colId xmlns:a16="http://schemas.microsoft.com/office/drawing/2014/main" val="718856264"/>
                    </a:ext>
                  </a:extLst>
                </a:gridCol>
                <a:gridCol w="808139">
                  <a:extLst>
                    <a:ext uri="{9D8B030D-6E8A-4147-A177-3AD203B41FA5}">
                      <a16:colId xmlns:a16="http://schemas.microsoft.com/office/drawing/2014/main" val="4118611506"/>
                    </a:ext>
                  </a:extLst>
                </a:gridCol>
                <a:gridCol w="2110014">
                  <a:extLst>
                    <a:ext uri="{9D8B030D-6E8A-4147-A177-3AD203B41FA5}">
                      <a16:colId xmlns:a16="http://schemas.microsoft.com/office/drawing/2014/main" val="82004188"/>
                    </a:ext>
                  </a:extLst>
                </a:gridCol>
                <a:gridCol w="1753418">
                  <a:extLst>
                    <a:ext uri="{9D8B030D-6E8A-4147-A177-3AD203B41FA5}">
                      <a16:colId xmlns:a16="http://schemas.microsoft.com/office/drawing/2014/main" val="1584453810"/>
                    </a:ext>
                  </a:extLst>
                </a:gridCol>
                <a:gridCol w="951682">
                  <a:extLst>
                    <a:ext uri="{9D8B030D-6E8A-4147-A177-3AD203B41FA5}">
                      <a16:colId xmlns:a16="http://schemas.microsoft.com/office/drawing/2014/main" val="592933954"/>
                    </a:ext>
                  </a:extLst>
                </a:gridCol>
              </a:tblGrid>
              <a:tr h="3888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Points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Known Limitations (Lacks)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Citation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97440657"/>
                  </a:ext>
                </a:extLst>
              </a:tr>
              <a:tr h="8425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Deep Learning-Based Framework for Retinal Disease Classification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comprehensive framework for classifying multiple retinal diseases using deep learning.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Generalizability to diverse, real-world clinical datasets; a detailed interpretability module.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74336679"/>
                  </a:ext>
                </a:extLst>
              </a:tr>
              <a:tr h="8425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Foundation Model for Generalizable Disease Detection from Retinal Images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single, large-scale model generalizes well across multiple retinal diseases and datasets.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Fine-grained interpretability ("black box" nature); validation in prospective clinical trials.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15397248"/>
                  </a:ext>
                </a:extLst>
              </a:tr>
              <a:tr h="8425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 Learning for Retinal Vascular Disease Detection: A Pilot Study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pilot study showing transfer learning is effective for detecting Diabetic Retinopathy and Retinopathy of Prematurity.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Large-scale validation beyond a pilot scope; performance on other retinal vascular conditions.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87802080"/>
                  </a:ext>
                </a:extLst>
              </a:tr>
              <a:tr h="8425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and Validation of a Deep Learning Algorithm for DR Detection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foundational paper that demonstrated high accuracy for detecting Diabetic Retinopathy using deep learning.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narrow focus on a single disease (DR); comparison with more modern architectures (e.g., Transformers).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80925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465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498D13EF-8BE2-0AC2-88D5-A29CD468E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>
            <a:extLst>
              <a:ext uri="{FF2B5EF4-FFF2-40B4-BE49-F238E27FC236}">
                <a16:creationId xmlns:a16="http://schemas.microsoft.com/office/drawing/2014/main" id="{13BEEF07-A7AC-7AE9-5BF0-554497BD4791}"/>
              </a:ext>
            </a:extLst>
          </p:cNvPr>
          <p:cNvSpPr txBox="1"/>
          <p:nvPr/>
        </p:nvSpPr>
        <p:spPr>
          <a:xfrm>
            <a:off x="793694" y="376929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Of Existing Systems</a:t>
            </a:r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C1777E7-A871-DAD5-1742-B3EC8BE26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94" y="1288199"/>
            <a:ext cx="7980383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Manual Diagnosis: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current reliance on manual interpretation by specialists is costly, time-consuming, and creates significant diagnostic bottlenecks in the healthcare system.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Inaccessible AI Prototypes: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High-accuracy AI models developed in research often remain as complex prototypes, lacking the user-friendly interfaces needed for practical application by clinicians or educators.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Foundational Dataset Limitations: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development of robust and fair AI is consistently challenged by underlying data issues, most notably class imbalance and inconsistent image quality.</a:t>
            </a:r>
          </a:p>
        </p:txBody>
      </p:sp>
    </p:spTree>
    <p:extLst>
      <p:ext uri="{BB962C8B-B14F-4D97-AF65-F5344CB8AC3E}">
        <p14:creationId xmlns:p14="http://schemas.microsoft.com/office/powerpoint/2010/main" val="4101714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15594B4C-B02B-9CB8-E298-48FEBA57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>
            <a:extLst>
              <a:ext uri="{FF2B5EF4-FFF2-40B4-BE49-F238E27FC236}">
                <a16:creationId xmlns:a16="http://schemas.microsoft.com/office/drawing/2014/main" id="{D58A18DE-56B8-728C-B0FC-FBE7164201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800" cy="14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statement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622061-0F0F-44FC-0031-EB5E85B6A0B7}"/>
              </a:ext>
            </a:extLst>
          </p:cNvPr>
          <p:cNvSpPr txBox="1"/>
          <p:nvPr/>
        </p:nvSpPr>
        <p:spPr>
          <a:xfrm>
            <a:off x="733344" y="1703575"/>
            <a:ext cx="76650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 diseases like diabetic retinopathy, glaucoma, and cataract are major causes of vision loss worldwide. Traditional diagnosis is costly and inaccessible for many, especially in rural areas. A web-based AI system can enable quick, affordable, and accessible preliminary screening, improving early detection and preventing avoidable blindness.</a:t>
            </a:r>
          </a:p>
        </p:txBody>
      </p:sp>
    </p:spTree>
    <p:extLst>
      <p:ext uri="{BB962C8B-B14F-4D97-AF65-F5344CB8AC3E}">
        <p14:creationId xmlns:p14="http://schemas.microsoft.com/office/powerpoint/2010/main" val="3486783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"/>
          <p:cNvSpPr txBox="1"/>
          <p:nvPr/>
        </p:nvSpPr>
        <p:spPr>
          <a:xfrm>
            <a:off x="953116" y="655373"/>
            <a:ext cx="9071100" cy="367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Overview of 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12E91-1F1C-F70A-797D-521281D73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98" y="1427403"/>
            <a:ext cx="7444409" cy="5858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B89D2419-3868-9709-4D5D-C0721371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>
            <a:extLst>
              <a:ext uri="{FF2B5EF4-FFF2-40B4-BE49-F238E27FC236}">
                <a16:creationId xmlns:a16="http://schemas.microsoft.com/office/drawing/2014/main" id="{BD8C0AD2-C6BE-9D5A-14E4-C50A871F1D7A}"/>
              </a:ext>
            </a:extLst>
          </p:cNvPr>
          <p:cNvSpPr txBox="1"/>
          <p:nvPr/>
        </p:nvSpPr>
        <p:spPr>
          <a:xfrm>
            <a:off x="756455" y="209257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Technology and Methodologies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264C60-B916-7CFD-5A07-9A075C5BFCBA}"/>
              </a:ext>
            </a:extLst>
          </p:cNvPr>
          <p:cNvSpPr txBox="1"/>
          <p:nvPr/>
        </p:nvSpPr>
        <p:spPr>
          <a:xfrm>
            <a:off x="756455" y="1288477"/>
            <a:ext cx="8174185" cy="650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8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lvl="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Notebooks + NVIDIA T4 x2 GPU</a:t>
            </a:r>
          </a:p>
          <a:p>
            <a:pPr marL="342900" lvl="8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lvl="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342900" lvl="8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lvl="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,Pandas , Matplotlib,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2900" lvl="8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lvl="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EfficientNetB4</a:t>
            </a:r>
          </a:p>
          <a:p>
            <a:pPr marL="342900" lvl="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MobilNetV3_Large </a:t>
            </a:r>
          </a:p>
          <a:p>
            <a:pPr marL="342900" lvl="8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lvl="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dataset of color fundus images for the detection and classification of eye diseases</a:t>
            </a:r>
          </a:p>
          <a:p>
            <a:pPr marL="342900" lvl="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2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188E-1B66-0F88-8588-3B788631C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AA370-0EFD-ADFC-71FD-BF453ABE0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47" y="1921023"/>
            <a:ext cx="9087729" cy="417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20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9C2EBA-8A64-E255-2536-CAB83A761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9" y="253219"/>
            <a:ext cx="7707526" cy="31852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AC83E6-A78A-0172-CFF5-491ADD2EF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77" y="3906446"/>
            <a:ext cx="7838998" cy="318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6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06ABE1-15C3-F548-9C1E-523622A06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56" y="92132"/>
            <a:ext cx="7239361" cy="34844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27F9EB-CF54-FEDB-D6AC-7068BDC05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55" y="3726919"/>
            <a:ext cx="7239361" cy="352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86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79B263-46FE-601C-D930-D7F757309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04" y="310091"/>
            <a:ext cx="7315199" cy="34697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22DA23-AD5A-3BE2-23C7-DD31ECB4D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274" y="3624441"/>
            <a:ext cx="7421858" cy="36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46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69C59A-B1F0-B27A-D1B4-8F2645C22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951" y="1448095"/>
            <a:ext cx="8046721" cy="38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05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34F87D1D-D352-D8E7-6CB5-8879A5B0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>
            <a:extLst>
              <a:ext uri="{FF2B5EF4-FFF2-40B4-BE49-F238E27FC236}">
                <a16:creationId xmlns:a16="http://schemas.microsoft.com/office/drawing/2014/main" id="{E4A36F28-9343-6729-30A8-37E52B9282E2}"/>
              </a:ext>
            </a:extLst>
          </p:cNvPr>
          <p:cNvSpPr txBox="1"/>
          <p:nvPr/>
        </p:nvSpPr>
        <p:spPr>
          <a:xfrm>
            <a:off x="793694" y="376929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ECD0DD-178B-A735-D738-FC12D66C1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94" y="1579234"/>
            <a:ext cx="809708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Multimodal Data: 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Fuse retinal image analysis with clinical EHR data (e.g., HbA1c levels) for a more holistic diagnosis.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 Explainable AI (XAI):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beyond heatmaps to provide interactive, query-based explanations for clinical trust and validation.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API for Integration: 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secure RESTful API for seamless integration of the AI tool into existing hospital EHR and PACS workflows.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Federated Learning: 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on decentralized data from multiple institutions to improve model generalization and mitigate algorithmic bias.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042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DCA37FC8-BBDF-1360-34E0-E49105910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>
            <a:extLst>
              <a:ext uri="{FF2B5EF4-FFF2-40B4-BE49-F238E27FC236}">
                <a16:creationId xmlns:a16="http://schemas.microsoft.com/office/drawing/2014/main" id="{64086475-06CF-4CC5-64BB-2345CE562D1C}"/>
              </a:ext>
            </a:extLst>
          </p:cNvPr>
          <p:cNvSpPr txBox="1"/>
          <p:nvPr/>
        </p:nvSpPr>
        <p:spPr>
          <a:xfrm>
            <a:off x="793694" y="376929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25530D-C65D-9794-6146-EF84E0939306}"/>
              </a:ext>
            </a:extLst>
          </p:cNvPr>
          <p:cNvSpPr txBox="1"/>
          <p:nvPr/>
        </p:nvSpPr>
        <p:spPr>
          <a:xfrm>
            <a:off x="645457" y="1843425"/>
            <a:ext cx="75138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Artificial Intelligence and Deep Learning to provide quick, accurate, and accessible eye disease detection through a web-based application. By automating the screening process with real-time predictions and a simple interface, it promotes early diagnosis, increases awareness, and helps prevent avoidable vision loss.</a:t>
            </a:r>
          </a:p>
        </p:txBody>
      </p:sp>
    </p:spTree>
    <p:extLst>
      <p:ext uri="{BB962C8B-B14F-4D97-AF65-F5344CB8AC3E}">
        <p14:creationId xmlns:p14="http://schemas.microsoft.com/office/powerpoint/2010/main" val="3283835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01794EA0-5826-B892-3EE9-9444723D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>
            <a:extLst>
              <a:ext uri="{FF2B5EF4-FFF2-40B4-BE49-F238E27FC236}">
                <a16:creationId xmlns:a16="http://schemas.microsoft.com/office/drawing/2014/main" id="{12E6C920-23D1-0CE5-2615-6AAC93358E0F}"/>
              </a:ext>
            </a:extLst>
          </p:cNvPr>
          <p:cNvSpPr txBox="1"/>
          <p:nvPr/>
        </p:nvSpPr>
        <p:spPr>
          <a:xfrm>
            <a:off x="793694" y="191235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</p:txBody>
      </p:sp>
      <p:sp>
        <p:nvSpPr>
          <p:cNvPr id="3" name="Google Shape;284;p33">
            <a:extLst>
              <a:ext uri="{FF2B5EF4-FFF2-40B4-BE49-F238E27FC236}">
                <a16:creationId xmlns:a16="http://schemas.microsoft.com/office/drawing/2014/main" id="{9F94EB8A-DEED-A8CE-85A1-BBD9E37EBF17}"/>
              </a:ext>
            </a:extLst>
          </p:cNvPr>
          <p:cNvSpPr txBox="1"/>
          <p:nvPr/>
        </p:nvSpPr>
        <p:spPr>
          <a:xfrm>
            <a:off x="793694" y="1321254"/>
            <a:ext cx="8677200" cy="5915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P. A. Kumar, R. R. Sreeja, and S. A. Vishnu, “A Deep Learning-Based Framework for Retinal Disease Classification,” Sensors, vol. 24, no. 5, Art. 2252574, 2024. [Online]. Available: https://www.mdpi.com/2252574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S. Patel and V. Rao, “Transfer Learning for Retinal Vascular Disease Detection: A Pilot Study with Diabetic Retinopathy and Retinopathy of Prematurity,”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arXiv:2201.01250, 2022. [Online]. Available: https://arxiv.org/abs/2201.01250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V. Gulshan et al., “Development and Validation of a Deep Learning Algorithm for Detection of Diabetic Retinopathy in Retinal Fundus Photographs,” JAMA, vol. 316, no. 22, pp. 2402–2410, 2016,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10.1001/jama.2016.17216.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K. Zhou, Z. Ruan, et al., “A Foundation Model for Generalizable Disease Detection from Retinal Images,” Nature, vol. 622, no. 7982, pp. 156–163, 2023,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10.1038/s41586-023-06555-x.</a:t>
            </a:r>
          </a:p>
        </p:txBody>
      </p:sp>
    </p:spTree>
    <p:extLst>
      <p:ext uri="{BB962C8B-B14F-4D97-AF65-F5344CB8AC3E}">
        <p14:creationId xmlns:p14="http://schemas.microsoft.com/office/powerpoint/2010/main" val="744177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/>
          <p:nvPr/>
        </p:nvSpPr>
        <p:spPr>
          <a:xfrm>
            <a:off x="504762" y="3148787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7200" b="1" i="1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36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defaul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FFFFFF"/>
      </a:accent3>
      <a:accent4>
        <a:srgbClr val="5FCBEF"/>
      </a:accent4>
      <a:accent5>
        <a:srgbClr val="2E83C3"/>
      </a:accent5>
      <a:accent6>
        <a:srgbClr val="FFFFFF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</TotalTime>
  <Words>964</Words>
  <Application>Microsoft Office PowerPoint</Application>
  <PresentationFormat>Custom</PresentationFormat>
  <Paragraphs>125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Noto Sans Symbols</vt:lpstr>
      <vt:lpstr>Times New Roman</vt:lpstr>
      <vt:lpstr>Trebuchet MS</vt:lpstr>
      <vt:lpstr>Wingdings</vt:lpstr>
      <vt:lpstr>Facet</vt:lpstr>
      <vt:lpstr>Facet</vt:lpstr>
      <vt:lpstr>PowerPoint Presentation</vt:lpstr>
      <vt:lpstr>PowerPoint Presentation</vt:lpstr>
      <vt:lpstr>PowerPoint Presentation</vt:lpstr>
      <vt:lpstr>Sustainable Development Goal: </vt:lpstr>
      <vt:lpstr>PowerPoint Presentation</vt:lpstr>
      <vt:lpstr>PowerPoint Presentation</vt:lpstr>
      <vt:lpstr> Problem statement </vt:lpstr>
      <vt:lpstr>PowerPoint Presentation</vt:lpstr>
      <vt:lpstr>PowerPoint Presentation</vt:lpstr>
      <vt:lpstr>Implementation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Aman Pandey</dc:creator>
  <cp:lastModifiedBy>Gaurav Kshirsagar</cp:lastModifiedBy>
  <cp:revision>31</cp:revision>
  <dcterms:modified xsi:type="dcterms:W3CDTF">2025-10-11T10:25:41Z</dcterms:modified>
</cp:coreProperties>
</file>